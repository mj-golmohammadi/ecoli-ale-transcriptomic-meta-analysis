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11430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DE7DF"/>
    <a:srgbClr val="9ED5F5"/>
    <a:srgbClr val="F390D2"/>
    <a:srgbClr val="5CB6CA"/>
    <a:srgbClr val="4EB3D3"/>
    <a:srgbClr val="E7298A"/>
    <a:srgbClr val="7FCD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03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DA5DBD-227A-4FC6-90FF-D2347DB5E15C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1143000"/>
            <a:ext cx="5143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2881E8-3A8D-4D2E-8EFE-838D80E5E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2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881E8-3A8D-4D2E-8EFE-838D80E5E39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246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8750" y="1122363"/>
            <a:ext cx="8572500" cy="2387600"/>
          </a:xfrm>
        </p:spPr>
        <p:txBody>
          <a:bodyPr anchor="b"/>
          <a:lstStyle>
            <a:lvl1pPr algn="ctr">
              <a:defRPr sz="56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8750" y="3602038"/>
            <a:ext cx="8572500" cy="1655762"/>
          </a:xfrm>
        </p:spPr>
        <p:txBody>
          <a:bodyPr/>
          <a:lstStyle>
            <a:lvl1pPr marL="0" indent="0" algn="ctr">
              <a:buNone/>
              <a:defRPr sz="2250"/>
            </a:lvl1pPr>
            <a:lvl2pPr marL="428625" indent="0" algn="ctr">
              <a:buNone/>
              <a:defRPr sz="1875"/>
            </a:lvl2pPr>
            <a:lvl3pPr marL="857250" indent="0" algn="ctr">
              <a:buNone/>
              <a:defRPr sz="1688"/>
            </a:lvl3pPr>
            <a:lvl4pPr marL="1285875" indent="0" algn="ctr">
              <a:buNone/>
              <a:defRPr sz="1500"/>
            </a:lvl4pPr>
            <a:lvl5pPr marL="1714500" indent="0" algn="ctr">
              <a:buNone/>
              <a:defRPr sz="1500"/>
            </a:lvl5pPr>
            <a:lvl6pPr marL="2143125" indent="0" algn="ctr">
              <a:buNone/>
              <a:defRPr sz="1500"/>
            </a:lvl6pPr>
            <a:lvl7pPr marL="2571750" indent="0" algn="ctr">
              <a:buNone/>
              <a:defRPr sz="1500"/>
            </a:lvl7pPr>
            <a:lvl8pPr marL="3000375" indent="0" algn="ctr">
              <a:buNone/>
              <a:defRPr sz="1500"/>
            </a:lvl8pPr>
            <a:lvl9pPr marL="34290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91877-C704-493F-97C1-0E118205035C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D0CAC-CA9A-44BD-A0CA-0235D14CC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215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91877-C704-493F-97C1-0E118205035C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D0CAC-CA9A-44BD-A0CA-0235D14CC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03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859" y="1709739"/>
            <a:ext cx="9858375" cy="2852737"/>
          </a:xfrm>
        </p:spPr>
        <p:txBody>
          <a:bodyPr anchor="b"/>
          <a:lstStyle>
            <a:lvl1pPr>
              <a:defRPr sz="56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9859" y="4589464"/>
            <a:ext cx="9858375" cy="1500187"/>
          </a:xfrm>
        </p:spPr>
        <p:txBody>
          <a:bodyPr/>
          <a:lstStyle>
            <a:lvl1pPr marL="0" indent="0">
              <a:buNone/>
              <a:defRPr sz="2250">
                <a:solidFill>
                  <a:schemeClr val="tx1">
                    <a:tint val="82000"/>
                  </a:schemeClr>
                </a:solidFill>
              </a:defRPr>
            </a:lvl1pPr>
            <a:lvl2pPr marL="428625" indent="0">
              <a:buNone/>
              <a:defRPr sz="1875">
                <a:solidFill>
                  <a:schemeClr val="tx1">
                    <a:tint val="82000"/>
                  </a:schemeClr>
                </a:solidFill>
              </a:defRPr>
            </a:lvl2pPr>
            <a:lvl3pPr marL="857250" indent="0">
              <a:buNone/>
              <a:defRPr sz="1688">
                <a:solidFill>
                  <a:schemeClr val="tx1">
                    <a:tint val="82000"/>
                  </a:schemeClr>
                </a:solidFill>
              </a:defRPr>
            </a:lvl3pPr>
            <a:lvl4pPr marL="1285875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4pPr>
            <a:lvl5pPr marL="17145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5pPr>
            <a:lvl6pPr marL="2143125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6pPr>
            <a:lvl7pPr marL="257175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7pPr>
            <a:lvl8pPr marL="3000375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8pPr>
            <a:lvl9pPr marL="34290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91877-C704-493F-97C1-0E118205035C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D0CAC-CA9A-44BD-A0CA-0235D14CC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759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5813" y="1825625"/>
            <a:ext cx="48577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86438" y="1825625"/>
            <a:ext cx="48577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91877-C704-493F-97C1-0E118205035C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D0CAC-CA9A-44BD-A0CA-0235D14CC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445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301" y="365126"/>
            <a:ext cx="985837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7302" y="1681163"/>
            <a:ext cx="4835425" cy="823912"/>
          </a:xfrm>
        </p:spPr>
        <p:txBody>
          <a:bodyPr anchor="b"/>
          <a:lstStyle>
            <a:lvl1pPr marL="0" indent="0">
              <a:buNone/>
              <a:defRPr sz="2250" b="1"/>
            </a:lvl1pPr>
            <a:lvl2pPr marL="428625" indent="0">
              <a:buNone/>
              <a:defRPr sz="1875" b="1"/>
            </a:lvl2pPr>
            <a:lvl3pPr marL="857250" indent="0">
              <a:buNone/>
              <a:defRPr sz="1688" b="1"/>
            </a:lvl3pPr>
            <a:lvl4pPr marL="1285875" indent="0">
              <a:buNone/>
              <a:defRPr sz="1500" b="1"/>
            </a:lvl4pPr>
            <a:lvl5pPr marL="1714500" indent="0">
              <a:buNone/>
              <a:defRPr sz="1500" b="1"/>
            </a:lvl5pPr>
            <a:lvl6pPr marL="2143125" indent="0">
              <a:buNone/>
              <a:defRPr sz="1500" b="1"/>
            </a:lvl6pPr>
            <a:lvl7pPr marL="2571750" indent="0">
              <a:buNone/>
              <a:defRPr sz="1500" b="1"/>
            </a:lvl7pPr>
            <a:lvl8pPr marL="3000375" indent="0">
              <a:buNone/>
              <a:defRPr sz="1500" b="1"/>
            </a:lvl8pPr>
            <a:lvl9pPr marL="3429000" indent="0">
              <a:buNone/>
              <a:defRPr sz="1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7302" y="2505075"/>
            <a:ext cx="483542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86437" y="1681163"/>
            <a:ext cx="4859239" cy="823912"/>
          </a:xfrm>
        </p:spPr>
        <p:txBody>
          <a:bodyPr anchor="b"/>
          <a:lstStyle>
            <a:lvl1pPr marL="0" indent="0">
              <a:buNone/>
              <a:defRPr sz="2250" b="1"/>
            </a:lvl1pPr>
            <a:lvl2pPr marL="428625" indent="0">
              <a:buNone/>
              <a:defRPr sz="1875" b="1"/>
            </a:lvl2pPr>
            <a:lvl3pPr marL="857250" indent="0">
              <a:buNone/>
              <a:defRPr sz="1688" b="1"/>
            </a:lvl3pPr>
            <a:lvl4pPr marL="1285875" indent="0">
              <a:buNone/>
              <a:defRPr sz="1500" b="1"/>
            </a:lvl4pPr>
            <a:lvl5pPr marL="1714500" indent="0">
              <a:buNone/>
              <a:defRPr sz="1500" b="1"/>
            </a:lvl5pPr>
            <a:lvl6pPr marL="2143125" indent="0">
              <a:buNone/>
              <a:defRPr sz="1500" b="1"/>
            </a:lvl6pPr>
            <a:lvl7pPr marL="2571750" indent="0">
              <a:buNone/>
              <a:defRPr sz="1500" b="1"/>
            </a:lvl7pPr>
            <a:lvl8pPr marL="3000375" indent="0">
              <a:buNone/>
              <a:defRPr sz="1500" b="1"/>
            </a:lvl8pPr>
            <a:lvl9pPr marL="3429000" indent="0">
              <a:buNone/>
              <a:defRPr sz="1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86437" y="2505075"/>
            <a:ext cx="4859239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91877-C704-493F-97C1-0E118205035C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D0CAC-CA9A-44BD-A0CA-0235D14CC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241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91877-C704-493F-97C1-0E118205035C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D0CAC-CA9A-44BD-A0CA-0235D14CC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045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91877-C704-493F-97C1-0E118205035C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D0CAC-CA9A-44BD-A0CA-0235D14CC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002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302" y="457200"/>
            <a:ext cx="3686472" cy="1600200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9238" y="987426"/>
            <a:ext cx="5786438" cy="4873625"/>
          </a:xfrm>
        </p:spPr>
        <p:txBody>
          <a:bodyPr/>
          <a:lstStyle>
            <a:lvl1pPr>
              <a:defRPr sz="3000"/>
            </a:lvl1pPr>
            <a:lvl2pPr>
              <a:defRPr sz="2625"/>
            </a:lvl2pPr>
            <a:lvl3pPr>
              <a:defRPr sz="2250"/>
            </a:lvl3pPr>
            <a:lvl4pPr>
              <a:defRPr sz="1875"/>
            </a:lvl4pPr>
            <a:lvl5pPr>
              <a:defRPr sz="1875"/>
            </a:lvl5pPr>
            <a:lvl6pPr>
              <a:defRPr sz="1875"/>
            </a:lvl6pPr>
            <a:lvl7pPr>
              <a:defRPr sz="1875"/>
            </a:lvl7pPr>
            <a:lvl8pPr>
              <a:defRPr sz="1875"/>
            </a:lvl8pPr>
            <a:lvl9pPr>
              <a:defRPr sz="18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302" y="2057400"/>
            <a:ext cx="368647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428625" indent="0">
              <a:buNone/>
              <a:defRPr sz="1313"/>
            </a:lvl2pPr>
            <a:lvl3pPr marL="857250" indent="0">
              <a:buNone/>
              <a:defRPr sz="1125"/>
            </a:lvl3pPr>
            <a:lvl4pPr marL="1285875" indent="0">
              <a:buNone/>
              <a:defRPr sz="938"/>
            </a:lvl4pPr>
            <a:lvl5pPr marL="1714500" indent="0">
              <a:buNone/>
              <a:defRPr sz="938"/>
            </a:lvl5pPr>
            <a:lvl6pPr marL="2143125" indent="0">
              <a:buNone/>
              <a:defRPr sz="938"/>
            </a:lvl6pPr>
            <a:lvl7pPr marL="2571750" indent="0">
              <a:buNone/>
              <a:defRPr sz="938"/>
            </a:lvl7pPr>
            <a:lvl8pPr marL="3000375" indent="0">
              <a:buNone/>
              <a:defRPr sz="938"/>
            </a:lvl8pPr>
            <a:lvl9pPr marL="3429000" indent="0">
              <a:buNone/>
              <a:defRPr sz="93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91877-C704-493F-97C1-0E118205035C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D0CAC-CA9A-44BD-A0CA-0235D14CC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251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302" y="457200"/>
            <a:ext cx="3686472" cy="1600200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59238" y="987426"/>
            <a:ext cx="5786438" cy="4873625"/>
          </a:xfrm>
        </p:spPr>
        <p:txBody>
          <a:bodyPr anchor="t"/>
          <a:lstStyle>
            <a:lvl1pPr marL="0" indent="0">
              <a:buNone/>
              <a:defRPr sz="3000"/>
            </a:lvl1pPr>
            <a:lvl2pPr marL="428625" indent="0">
              <a:buNone/>
              <a:defRPr sz="2625"/>
            </a:lvl2pPr>
            <a:lvl3pPr marL="857250" indent="0">
              <a:buNone/>
              <a:defRPr sz="2250"/>
            </a:lvl3pPr>
            <a:lvl4pPr marL="1285875" indent="0">
              <a:buNone/>
              <a:defRPr sz="1875"/>
            </a:lvl4pPr>
            <a:lvl5pPr marL="1714500" indent="0">
              <a:buNone/>
              <a:defRPr sz="1875"/>
            </a:lvl5pPr>
            <a:lvl6pPr marL="2143125" indent="0">
              <a:buNone/>
              <a:defRPr sz="1875"/>
            </a:lvl6pPr>
            <a:lvl7pPr marL="2571750" indent="0">
              <a:buNone/>
              <a:defRPr sz="1875"/>
            </a:lvl7pPr>
            <a:lvl8pPr marL="3000375" indent="0">
              <a:buNone/>
              <a:defRPr sz="1875"/>
            </a:lvl8pPr>
            <a:lvl9pPr marL="3429000" indent="0">
              <a:buNone/>
              <a:defRPr sz="187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302" y="2057400"/>
            <a:ext cx="368647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428625" indent="0">
              <a:buNone/>
              <a:defRPr sz="1313"/>
            </a:lvl2pPr>
            <a:lvl3pPr marL="857250" indent="0">
              <a:buNone/>
              <a:defRPr sz="1125"/>
            </a:lvl3pPr>
            <a:lvl4pPr marL="1285875" indent="0">
              <a:buNone/>
              <a:defRPr sz="938"/>
            </a:lvl4pPr>
            <a:lvl5pPr marL="1714500" indent="0">
              <a:buNone/>
              <a:defRPr sz="938"/>
            </a:lvl5pPr>
            <a:lvl6pPr marL="2143125" indent="0">
              <a:buNone/>
              <a:defRPr sz="938"/>
            </a:lvl6pPr>
            <a:lvl7pPr marL="2571750" indent="0">
              <a:buNone/>
              <a:defRPr sz="938"/>
            </a:lvl7pPr>
            <a:lvl8pPr marL="3000375" indent="0">
              <a:buNone/>
              <a:defRPr sz="938"/>
            </a:lvl8pPr>
            <a:lvl9pPr marL="3429000" indent="0">
              <a:buNone/>
              <a:defRPr sz="93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91877-C704-493F-97C1-0E118205035C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D0CAC-CA9A-44BD-A0CA-0235D14CC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861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91877-C704-493F-97C1-0E118205035C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D0CAC-CA9A-44BD-A0CA-0235D14CC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820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79594" y="365125"/>
            <a:ext cx="2464594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5813" y="365125"/>
            <a:ext cx="725090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91877-C704-493F-97C1-0E118205035C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D0CAC-CA9A-44BD-A0CA-0235D14CC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544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5813" y="365126"/>
            <a:ext cx="98583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5813" y="1825625"/>
            <a:ext cx="985837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813" y="6356351"/>
            <a:ext cx="2571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2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191877-C704-493F-97C1-0E118205035C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86188" y="6356351"/>
            <a:ext cx="3857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2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2438" y="6356351"/>
            <a:ext cx="2571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2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1D0CAC-CA9A-44BD-A0CA-0235D14CC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625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857250" rtl="0" eaLnBrk="1" latinLnBrk="0" hangingPunct="1">
        <a:lnSpc>
          <a:spcPct val="90000"/>
        </a:lnSpc>
        <a:spcBef>
          <a:spcPct val="0"/>
        </a:spcBef>
        <a:buNone/>
        <a:defRPr sz="41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4313" indent="-214313" algn="l" defTabSz="857250" rtl="0" eaLnBrk="1" latinLnBrk="0" hangingPunct="1">
        <a:lnSpc>
          <a:spcPct val="90000"/>
        </a:lnSpc>
        <a:spcBef>
          <a:spcPts val="938"/>
        </a:spcBef>
        <a:buFont typeface="Arial" panose="020B0604020202020204" pitchFamily="34" charset="0"/>
        <a:buChar char="•"/>
        <a:defRPr sz="2625" kern="1200">
          <a:solidFill>
            <a:schemeClr val="tx1"/>
          </a:solidFill>
          <a:latin typeface="+mn-lt"/>
          <a:ea typeface="+mn-ea"/>
          <a:cs typeface="+mn-cs"/>
        </a:defRPr>
      </a:lvl1pPr>
      <a:lvl2pPr marL="642938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071563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875" kern="1200">
          <a:solidFill>
            <a:schemeClr val="tx1"/>
          </a:solidFill>
          <a:latin typeface="+mn-lt"/>
          <a:ea typeface="+mn-ea"/>
          <a:cs typeface="+mn-cs"/>
        </a:defRPr>
      </a:lvl3pPr>
      <a:lvl4pPr marL="1500188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4pPr>
      <a:lvl5pPr marL="1928813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5pPr>
      <a:lvl6pPr marL="2357438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6pPr>
      <a:lvl7pPr marL="2786063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7pPr>
      <a:lvl8pPr marL="3214688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8pPr>
      <a:lvl9pPr marL="3643313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1pPr>
      <a:lvl2pPr marL="428625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3pPr>
      <a:lvl4pPr marL="1285875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5pPr>
      <a:lvl6pPr marL="2143125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6pPr>
      <a:lvl7pPr marL="2571750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7pPr>
      <a:lvl8pPr marL="3000375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8pPr>
      <a:lvl9pPr marL="3429000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73E85-B1B3-1A4A-5536-9B2921400F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834" y="0"/>
            <a:ext cx="4642777" cy="373473"/>
          </a:xfrm>
        </p:spPr>
        <p:txBody>
          <a:bodyPr>
            <a:noAutofit/>
          </a:bodyPr>
          <a:lstStyle/>
          <a:p>
            <a:r>
              <a:rPr lang="en-US" sz="1600" b="1" dirty="0"/>
              <a:t>Functional modules identified by MCODE analysis.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584B8C-5612-1444-0116-613FBC602154}"/>
              </a:ext>
            </a:extLst>
          </p:cNvPr>
          <p:cNvSpPr txBox="1"/>
          <p:nvPr/>
        </p:nvSpPr>
        <p:spPr>
          <a:xfrm>
            <a:off x="431853" y="566362"/>
            <a:ext cx="35028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Cluster 1 – Flagellar Assembly, Motility and Chemotaxis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250E40-1548-84C5-5CC2-5BBF1345C0EE}"/>
              </a:ext>
            </a:extLst>
          </p:cNvPr>
          <p:cNvSpPr txBox="1"/>
          <p:nvPr/>
        </p:nvSpPr>
        <p:spPr>
          <a:xfrm>
            <a:off x="8122672" y="566362"/>
            <a:ext cx="3394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Cluster 4 – Curli and Biofilm Regulation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6A2AF2-3596-D842-720F-C8E293B70C30}"/>
              </a:ext>
            </a:extLst>
          </p:cNvPr>
          <p:cNvSpPr txBox="1"/>
          <p:nvPr/>
        </p:nvSpPr>
        <p:spPr>
          <a:xfrm>
            <a:off x="4276997" y="573418"/>
            <a:ext cx="35459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Cluster 3 – Nutrient Transport and Uptake</a:t>
            </a:r>
            <a:endParaRPr 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CB74F2-9401-E948-A082-169E82326A46}"/>
              </a:ext>
            </a:extLst>
          </p:cNvPr>
          <p:cNvSpPr txBox="1"/>
          <p:nvPr/>
        </p:nvSpPr>
        <p:spPr>
          <a:xfrm>
            <a:off x="542219" y="4212952"/>
            <a:ext cx="2732690" cy="523220"/>
          </a:xfrm>
          <a:prstGeom prst="rect">
            <a:avLst/>
          </a:prstGeom>
          <a:noFill/>
          <a:ln w="19050">
            <a:solidFill>
              <a:srgbClr val="8DE7DF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MCODE score: 26.538 | 27 nodes | 345 edges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209EF7-1617-F480-A7ED-DF92A97CF975}"/>
              </a:ext>
            </a:extLst>
          </p:cNvPr>
          <p:cNvSpPr txBox="1"/>
          <p:nvPr/>
        </p:nvSpPr>
        <p:spPr>
          <a:xfrm>
            <a:off x="4286629" y="4219449"/>
            <a:ext cx="2732689" cy="523220"/>
          </a:xfrm>
          <a:prstGeom prst="rect">
            <a:avLst/>
          </a:prstGeom>
          <a:noFill/>
          <a:ln w="19050">
            <a:solidFill>
              <a:srgbClr val="9ED5F5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MCODE score: 8.000 | 8 nodes | 28 edges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2849D4-E15E-EC87-7BAA-883CF3EF3669}"/>
              </a:ext>
            </a:extLst>
          </p:cNvPr>
          <p:cNvSpPr txBox="1"/>
          <p:nvPr/>
        </p:nvSpPr>
        <p:spPr>
          <a:xfrm>
            <a:off x="8073161" y="4219266"/>
            <a:ext cx="2732689" cy="523220"/>
          </a:xfrm>
          <a:prstGeom prst="rect">
            <a:avLst/>
          </a:prstGeom>
          <a:noFill/>
          <a:ln w="19050">
            <a:solidFill>
              <a:srgbClr val="F390D2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MCODE score: 5.000 | 5 nodes | 10 edges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A7C8CB-50C1-FA82-AE51-BEBB146A1C5F}"/>
              </a:ext>
            </a:extLst>
          </p:cNvPr>
          <p:cNvSpPr txBox="1"/>
          <p:nvPr/>
        </p:nvSpPr>
        <p:spPr>
          <a:xfrm>
            <a:off x="188230" y="4935051"/>
            <a:ext cx="3545913" cy="954107"/>
          </a:xfrm>
          <a:prstGeom prst="rect">
            <a:avLst/>
          </a:prstGeom>
          <a:solidFill>
            <a:srgbClr val="8DE7DF"/>
          </a:solidFill>
          <a:ln w="3175">
            <a:solidFill>
              <a:srgbClr val="8DE7DF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Flagellar structural proteins and chemotaxis-associated factors involved in bacterial motility, environmental sensing, and directional movement.</a:t>
            </a:r>
            <a:endParaRPr 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2E47F-2576-9595-82AA-69E861015182}"/>
              </a:ext>
            </a:extLst>
          </p:cNvPr>
          <p:cNvSpPr txBox="1"/>
          <p:nvPr/>
        </p:nvSpPr>
        <p:spPr>
          <a:xfrm>
            <a:off x="7772952" y="4930680"/>
            <a:ext cx="3545913" cy="954107"/>
          </a:xfrm>
          <a:prstGeom prst="rect">
            <a:avLst/>
          </a:prstGeom>
          <a:solidFill>
            <a:srgbClr val="F390D2"/>
          </a:solidFill>
          <a:ln w="3175">
            <a:solidFill>
              <a:srgbClr val="F390D2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Curli structural and regulatory proteins involved in biofilm formation, surface adhesion, and multicellular bacterial adaptation.</a:t>
            </a:r>
            <a:endParaRPr 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AFFFC2-A823-307F-38C1-87AC67389CF8}"/>
              </a:ext>
            </a:extLst>
          </p:cNvPr>
          <p:cNvSpPr txBox="1"/>
          <p:nvPr/>
        </p:nvSpPr>
        <p:spPr>
          <a:xfrm>
            <a:off x="3980591" y="4935051"/>
            <a:ext cx="3545913" cy="954107"/>
          </a:xfrm>
          <a:prstGeom prst="rect">
            <a:avLst/>
          </a:prstGeom>
          <a:solidFill>
            <a:srgbClr val="9ED5F5"/>
          </a:solidFill>
          <a:ln w="3175">
            <a:solidFill>
              <a:srgbClr val="9ED5F5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Transport and uptake proteins involved in nutrient acquisition and cellular adaptation to changing environmental conditions.</a:t>
            </a:r>
            <a:endParaRPr lang="en-US" sz="14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8799AC5-52BC-9FDC-28B8-9B824A1F5D2B}"/>
              </a:ext>
            </a:extLst>
          </p:cNvPr>
          <p:cNvSpPr/>
          <p:nvPr/>
        </p:nvSpPr>
        <p:spPr>
          <a:xfrm>
            <a:off x="257423" y="607295"/>
            <a:ext cx="317177" cy="274320"/>
          </a:xfrm>
          <a:prstGeom prst="roundRect">
            <a:avLst/>
          </a:prstGeom>
          <a:solidFill>
            <a:srgbClr val="8DE7DF"/>
          </a:solidFill>
          <a:ln>
            <a:solidFill>
              <a:srgbClr val="8DE7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0C66FC0-32DD-3797-9612-F4FE4B8BD883}"/>
              </a:ext>
            </a:extLst>
          </p:cNvPr>
          <p:cNvSpPr/>
          <p:nvPr/>
        </p:nvSpPr>
        <p:spPr>
          <a:xfrm>
            <a:off x="7876863" y="604151"/>
            <a:ext cx="317177" cy="274320"/>
          </a:xfrm>
          <a:prstGeom prst="roundRect">
            <a:avLst/>
          </a:prstGeom>
          <a:solidFill>
            <a:srgbClr val="F390D2"/>
          </a:solidFill>
          <a:ln>
            <a:solidFill>
              <a:srgbClr val="F390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63CB0F0-E710-6A96-7BFA-4BA16655FDCC}"/>
              </a:ext>
            </a:extLst>
          </p:cNvPr>
          <p:cNvSpPr/>
          <p:nvPr/>
        </p:nvSpPr>
        <p:spPr>
          <a:xfrm>
            <a:off x="4014255" y="577327"/>
            <a:ext cx="317177" cy="274320"/>
          </a:xfrm>
          <a:prstGeom prst="roundRect">
            <a:avLst/>
          </a:prstGeom>
          <a:solidFill>
            <a:srgbClr val="9ED5F5"/>
          </a:solidFill>
          <a:ln>
            <a:solidFill>
              <a:srgbClr val="9ED5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63B52CBA-D4A1-6CA2-3C7B-1B3C4DC8D371}"/>
              </a:ext>
            </a:extLst>
          </p:cNvPr>
          <p:cNvSpPr txBox="1">
            <a:spLocks/>
          </p:cNvSpPr>
          <p:nvPr/>
        </p:nvSpPr>
        <p:spPr>
          <a:xfrm>
            <a:off x="128601" y="6092645"/>
            <a:ext cx="11172798" cy="628864"/>
          </a:xfrm>
          <a:prstGeom prst="rect">
            <a:avLst/>
          </a:prstGeom>
          <a:ln w="19050">
            <a:solidFill>
              <a:schemeClr val="bg1">
                <a:lumMod val="85000"/>
              </a:schemeClr>
            </a:solidFill>
            <a:prstDash val="dash"/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en-US" sz="1400" b="1" dirty="0"/>
              <a:t>         MCODE: </a:t>
            </a:r>
            <a:r>
              <a:rPr lang="en-US" sz="1400" dirty="0"/>
              <a:t>Molecular Complex Detection         •</a:t>
            </a:r>
            <a:r>
              <a:rPr lang="en-US" sz="1400" b="1" dirty="0" err="1"/>
              <a:t>fli</a:t>
            </a:r>
            <a:r>
              <a:rPr lang="en-US" sz="1400" b="1" dirty="0"/>
              <a:t>*, </a:t>
            </a:r>
            <a:r>
              <a:rPr lang="en-US" sz="1400" b="1" dirty="0" err="1"/>
              <a:t>flg</a:t>
            </a:r>
            <a:r>
              <a:rPr lang="en-US" sz="1400" b="1" dirty="0"/>
              <a:t>*: </a:t>
            </a:r>
            <a:r>
              <a:rPr lang="en-US" sz="1400" dirty="0"/>
              <a:t>Flagellar assembly          • </a:t>
            </a:r>
            <a:r>
              <a:rPr lang="en-US" sz="1400" b="1" dirty="0" err="1"/>
              <a:t>che</a:t>
            </a:r>
            <a:r>
              <a:rPr lang="en-US" sz="1400" b="1" dirty="0"/>
              <a:t>*, tar: </a:t>
            </a:r>
            <a:r>
              <a:rPr lang="en-US" sz="1400" dirty="0"/>
              <a:t>Chemotaxis                • </a:t>
            </a:r>
            <a:r>
              <a:rPr lang="en-US" sz="1400" b="1" dirty="0" err="1"/>
              <a:t>motA</a:t>
            </a:r>
            <a:r>
              <a:rPr lang="en-US" sz="1400" b="1" dirty="0"/>
              <a:t>, </a:t>
            </a:r>
            <a:r>
              <a:rPr lang="en-US" sz="1400" b="1" dirty="0" err="1"/>
              <a:t>motB</a:t>
            </a:r>
            <a:r>
              <a:rPr lang="en-US" sz="1400" b="1" dirty="0"/>
              <a:t>: </a:t>
            </a:r>
            <a:r>
              <a:rPr lang="en-US" sz="1400" dirty="0"/>
              <a:t>Flagellar motor</a:t>
            </a:r>
          </a:p>
          <a:p>
            <a:pPr algn="just">
              <a:lnSpc>
                <a:spcPct val="150000"/>
              </a:lnSpc>
            </a:pPr>
            <a:r>
              <a:rPr lang="en-US" sz="1400" dirty="0"/>
              <a:t>        </a:t>
            </a:r>
            <a:r>
              <a:rPr lang="en-US" sz="1400" b="1" dirty="0" err="1"/>
              <a:t>cysP</a:t>
            </a:r>
            <a:r>
              <a:rPr lang="en-US" sz="1400" b="1" dirty="0"/>
              <a:t>, </a:t>
            </a:r>
            <a:r>
              <a:rPr lang="en-US" sz="1400" b="1" dirty="0" err="1"/>
              <a:t>cysU</a:t>
            </a:r>
            <a:r>
              <a:rPr lang="en-US" sz="1400" b="1" dirty="0"/>
              <a:t>, </a:t>
            </a:r>
            <a:r>
              <a:rPr lang="en-US" sz="1400" b="1" dirty="0" err="1"/>
              <a:t>malE</a:t>
            </a:r>
            <a:r>
              <a:rPr lang="en-US" sz="1400" b="1" dirty="0"/>
              <a:t>, </a:t>
            </a:r>
            <a:r>
              <a:rPr lang="en-US" sz="1400" b="1" dirty="0" err="1"/>
              <a:t>malF</a:t>
            </a:r>
            <a:r>
              <a:rPr lang="en-US" sz="1400" b="1" dirty="0"/>
              <a:t>, </a:t>
            </a:r>
            <a:r>
              <a:rPr lang="en-US" sz="1400" b="1" dirty="0" err="1"/>
              <a:t>modF</a:t>
            </a:r>
            <a:r>
              <a:rPr lang="en-US" sz="1400" b="1" dirty="0"/>
              <a:t>, </a:t>
            </a:r>
            <a:r>
              <a:rPr lang="en-US" sz="1400" b="1" dirty="0" err="1"/>
              <a:t>btuD</a:t>
            </a:r>
            <a:r>
              <a:rPr lang="en-US" sz="1400" b="1" dirty="0"/>
              <a:t>, </a:t>
            </a:r>
            <a:r>
              <a:rPr lang="en-US" sz="1400" b="1" dirty="0" err="1"/>
              <a:t>mglA</a:t>
            </a:r>
            <a:r>
              <a:rPr lang="en-US" sz="1400" b="1" dirty="0"/>
              <a:t>, </a:t>
            </a:r>
            <a:r>
              <a:rPr lang="en-US" sz="1400" b="1" dirty="0" err="1"/>
              <a:t>rbsC</a:t>
            </a:r>
            <a:r>
              <a:rPr lang="en-US" sz="1400" b="1" dirty="0"/>
              <a:t>: </a:t>
            </a:r>
            <a:r>
              <a:rPr lang="en-US" sz="1400" dirty="0"/>
              <a:t>Transport         • </a:t>
            </a:r>
            <a:r>
              <a:rPr lang="en-US" sz="1400" b="1" dirty="0" err="1"/>
              <a:t>csgA</a:t>
            </a:r>
            <a:r>
              <a:rPr lang="en-US" sz="1400" b="1" dirty="0"/>
              <a:t>, </a:t>
            </a:r>
            <a:r>
              <a:rPr lang="en-US" sz="1400" b="1" dirty="0" err="1"/>
              <a:t>csgE</a:t>
            </a:r>
            <a:r>
              <a:rPr lang="en-US" sz="1400" b="1" dirty="0"/>
              <a:t>, </a:t>
            </a:r>
            <a:r>
              <a:rPr lang="en-US" sz="1400" b="1" dirty="0" err="1"/>
              <a:t>csgF</a:t>
            </a:r>
            <a:r>
              <a:rPr lang="en-US" sz="1400" b="1" dirty="0"/>
              <a:t>, </a:t>
            </a:r>
            <a:r>
              <a:rPr lang="en-US" sz="1400" b="1" dirty="0" err="1"/>
              <a:t>csgG</a:t>
            </a:r>
            <a:r>
              <a:rPr lang="en-US" sz="1400" b="1" dirty="0"/>
              <a:t>: </a:t>
            </a:r>
            <a:r>
              <a:rPr lang="en-US" sz="1400" dirty="0"/>
              <a:t>Curli assembly       • </a:t>
            </a:r>
            <a:r>
              <a:rPr lang="en-US" sz="1400" b="1" dirty="0" err="1"/>
              <a:t>csgD</a:t>
            </a:r>
            <a:r>
              <a:rPr lang="en-US" sz="1400" b="1" dirty="0"/>
              <a:t>: </a:t>
            </a:r>
            <a:r>
              <a:rPr lang="en-US" sz="1400" dirty="0"/>
              <a:t>Biofilm regulation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923DDBA-E9B4-2DB6-5996-8EDA2BB6F1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6011" y="1175815"/>
            <a:ext cx="3222434" cy="27432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37818D5-170F-A6DF-BF4E-2F7CC21987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2330" y="1175815"/>
            <a:ext cx="3222434" cy="274320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3559DEA6-8DA9-43B4-7EEB-B2951AECB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67175" y="1287872"/>
            <a:ext cx="3222434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822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562</TotalTime>
  <Words>176</Words>
  <Application>Microsoft Office PowerPoint</Application>
  <PresentationFormat>Custom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Functional modules identified by MCODE analysis.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nasrin</dc:creator>
  <cp:lastModifiedBy>nasrin</cp:lastModifiedBy>
  <cp:revision>27</cp:revision>
  <dcterms:created xsi:type="dcterms:W3CDTF">2026-06-28T11:16:08Z</dcterms:created>
  <dcterms:modified xsi:type="dcterms:W3CDTF">2026-08-08T13:50:58Z</dcterms:modified>
</cp:coreProperties>
</file>